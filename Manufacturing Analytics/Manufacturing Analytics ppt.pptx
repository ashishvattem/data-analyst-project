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2" r:id="rId1"/>
  </p:sldMasterIdLst>
  <p:notesMasterIdLst>
    <p:notesMasterId r:id="rId16"/>
  </p:notesMasterIdLst>
  <p:sldIdLst>
    <p:sldId id="256" r:id="rId2"/>
    <p:sldId id="257" r:id="rId3"/>
    <p:sldId id="278" r:id="rId4"/>
    <p:sldId id="258" r:id="rId5"/>
    <p:sldId id="275" r:id="rId6"/>
    <p:sldId id="276" r:id="rId7"/>
    <p:sldId id="267" r:id="rId8"/>
    <p:sldId id="259" r:id="rId9"/>
    <p:sldId id="274" r:id="rId10"/>
    <p:sldId id="261" r:id="rId11"/>
    <p:sldId id="281" r:id="rId12"/>
    <p:sldId id="282" r:id="rId13"/>
    <p:sldId id="284" r:id="rId14"/>
    <p:sldId id="26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94660"/>
  </p:normalViewPr>
  <p:slideViewPr>
    <p:cSldViewPr snapToGrid="0">
      <p:cViewPr varScale="1">
        <p:scale>
          <a:sx n="82" d="100"/>
          <a:sy n="82" d="100"/>
        </p:scale>
        <p:origin x="71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i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98AD87-DA24-4833-9AEF-92B9AE2BC199}" type="datetimeFigureOut">
              <a:rPr lang="hi-IN" smtClean="0"/>
              <a:pPr/>
              <a:t>रविवार, 17 फल्गुण 1947</a:t>
            </a:fld>
            <a:endParaRPr lang="hi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i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i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F4D93F-C098-4D07-9953-183F89AC8F9E}" type="slidenum">
              <a:rPr lang="hi-IN" smtClean="0"/>
              <a:pPr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1116958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E2136-B469-4B21-B15E-9B76BD6153E7}" type="datetime2">
              <a:rPr lang="en-US" smtClean="0"/>
              <a:pPr/>
              <a:t>Sunday, March 8, 2026</a:t>
            </a:fld>
            <a:endParaRPr lang="hi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72682AA2-5CB3-46ED-A2B5-D56ACF0A669B}" type="slidenum">
              <a:rPr lang="hi-IN" smtClean="0"/>
              <a:pPr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29533647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6461A-792D-42D1-B962-60589B8F9347}" type="datetime2">
              <a:rPr lang="en-US" smtClean="0"/>
              <a:pPr/>
              <a:t>Sunday, March 8, 2026</a:t>
            </a:fld>
            <a:endParaRPr lang="hi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82AA2-5CB3-46ED-A2B5-D56ACF0A669B}" type="slidenum">
              <a:rPr lang="hi-IN" smtClean="0"/>
              <a:pPr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2389783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F1DC6-8AB9-499B-AC3A-036034916654}" type="datetime2">
              <a:rPr lang="en-US" smtClean="0"/>
              <a:pPr/>
              <a:t>Sunday, March 8, 2026</a:t>
            </a:fld>
            <a:endParaRPr lang="hi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2682AA2-5CB3-46ED-A2B5-D56ACF0A669B}" type="slidenum">
              <a:rPr lang="hi-IN" smtClean="0"/>
              <a:pPr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1640778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E8D34-6787-4C3D-B49F-FFBE1B0E2863}" type="datetime2">
              <a:rPr lang="en-US" smtClean="0"/>
              <a:pPr/>
              <a:t>Sunday, March 8, 2026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2682AA2-5CB3-46ED-A2B5-D56ACF0A669B}" type="slidenum">
              <a:rPr lang="hi-IN" smtClean="0"/>
              <a:pPr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27335241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8C78C-FC6B-455B-82EF-BDA630B66E92}" type="datetime2">
              <a:rPr lang="en-US" smtClean="0"/>
              <a:pPr/>
              <a:t>Sunday, March 8, 2026</a:t>
            </a:fld>
            <a:endParaRPr lang="hi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2682AA2-5CB3-46ED-A2B5-D56ACF0A669B}" type="slidenum">
              <a:rPr lang="hi-IN" smtClean="0"/>
              <a:pPr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17781012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1E6D7-016B-4364-B05D-CF07DA4931F6}" type="datetime2">
              <a:rPr lang="en-US" smtClean="0"/>
              <a:pPr/>
              <a:t>Sunday, March 8, 2026</a:t>
            </a:fld>
            <a:endParaRPr lang="hi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82AA2-5CB3-46ED-A2B5-D56ACF0A669B}" type="slidenum">
              <a:rPr lang="hi-IN" smtClean="0"/>
              <a:pPr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15646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58305-5CB8-4134-90EB-83AA6F20B610}" type="datetime2">
              <a:rPr lang="en-US" smtClean="0"/>
              <a:pPr/>
              <a:t>Sunday, March 8, 2026</a:t>
            </a:fld>
            <a:endParaRPr lang="hi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82AA2-5CB3-46ED-A2B5-D56ACF0A669B}" type="slidenum">
              <a:rPr lang="hi-IN" smtClean="0"/>
              <a:pPr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11512509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F27C9-8980-49CB-97CC-468C7F3F1A8A}" type="datetime2">
              <a:rPr lang="en-US" smtClean="0"/>
              <a:pPr/>
              <a:t>Sunday, March 8, 2026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82AA2-5CB3-46ED-A2B5-D56ACF0A669B}" type="slidenum">
              <a:rPr lang="hi-IN" smtClean="0"/>
              <a:pPr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32797649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98FE3-C438-4689-9C75-C23AC38C1994}" type="datetime2">
              <a:rPr lang="en-US" smtClean="0"/>
              <a:pPr/>
              <a:t>Sunday, March 8, 2026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2682AA2-5CB3-46ED-A2B5-D56ACF0A669B}" type="slidenum">
              <a:rPr lang="hi-IN" smtClean="0"/>
              <a:pPr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1883342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84BD7-7D8F-456B-8F40-67B69DE67D87}" type="datetime2">
              <a:rPr lang="en-US" smtClean="0"/>
              <a:pPr/>
              <a:t>Sunday, March 8, 2026</a:t>
            </a:fld>
            <a:endParaRPr lang="hi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2682AA2-5CB3-46ED-A2B5-D56ACF0A669B}" type="slidenum">
              <a:rPr lang="hi-IN" smtClean="0"/>
              <a:pPr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2163722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C8047-45F4-43E0-8CB3-41D502A2ECA8}" type="datetime2">
              <a:rPr lang="en-US" smtClean="0"/>
              <a:pPr/>
              <a:t>Sunday, March 8, 2026</a:t>
            </a:fld>
            <a:endParaRPr lang="hi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2682AA2-5CB3-46ED-A2B5-D56ACF0A669B}" type="slidenum">
              <a:rPr lang="hi-IN" smtClean="0"/>
              <a:pPr/>
              <a:t>‹#›</a:t>
            </a:fld>
            <a:endParaRPr lang="hi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453425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84FE7-2450-4336-BD82-3EF2192FCD98}" type="datetime2">
              <a:rPr lang="en-US" smtClean="0"/>
              <a:pPr/>
              <a:t>Sunday, March 8, 2026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2682AA2-5CB3-46ED-A2B5-D56ACF0A669B}" type="slidenum">
              <a:rPr lang="hi-IN" smtClean="0"/>
              <a:pPr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22274915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342E3-0C44-4140-91E4-79DD2714415D}" type="datetime2">
              <a:rPr lang="en-US" smtClean="0"/>
              <a:pPr/>
              <a:t>Sunday, March 8, 2026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2682AA2-5CB3-46ED-A2B5-D56ACF0A669B}" type="slidenum">
              <a:rPr lang="hi-IN" smtClean="0"/>
              <a:pPr/>
              <a:t>‹#›</a:t>
            </a:fld>
            <a:endParaRPr lang="hi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324514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BA408-1253-41A4-9DCD-076AEF0FE66D}" type="datetime2">
              <a:rPr lang="en-US" smtClean="0"/>
              <a:pPr/>
              <a:t>Sunday, March 8, 2026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2682AA2-5CB3-46ED-A2B5-D56ACF0A669B}" type="slidenum">
              <a:rPr lang="hi-IN" smtClean="0"/>
              <a:pPr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33023679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7599E-BE03-4244-A705-2056F407A160}" type="datetime2">
              <a:rPr lang="en-US" smtClean="0"/>
              <a:pPr/>
              <a:t>Sunday, March 8, 2026</a:t>
            </a:fld>
            <a:endParaRPr lang="hi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82AA2-5CB3-46ED-A2B5-D56ACF0A669B}" type="slidenum">
              <a:rPr lang="hi-IN" smtClean="0"/>
              <a:pPr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30986822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3652A-F83D-4E0D-AF39-222BEDF1441D}" type="datetime2">
              <a:rPr lang="en-US" smtClean="0"/>
              <a:pPr/>
              <a:t>Sunday, March 8, 2026</a:t>
            </a:fld>
            <a:endParaRPr lang="hi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82AA2-5CB3-46ED-A2B5-D56ACF0A669B}" type="slidenum">
              <a:rPr lang="hi-IN" smtClean="0"/>
              <a:pPr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332212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C4F1CA-23AA-48F3-9203-3F2588B3A80D}" type="datetime2">
              <a:rPr lang="en-US" smtClean="0"/>
              <a:pPr/>
              <a:t>Sunday, March 8, 2026</a:t>
            </a:fld>
            <a:endParaRPr lang="hi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i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72682AA2-5CB3-46ED-A2B5-D56ACF0A669B}" type="slidenum">
              <a:rPr lang="hi-IN" smtClean="0"/>
              <a:pPr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2458470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8" r:id="rId6"/>
    <p:sldLayoutId id="2147483789" r:id="rId7"/>
    <p:sldLayoutId id="2147483790" r:id="rId8"/>
    <p:sldLayoutId id="2147483791" r:id="rId9"/>
    <p:sldLayoutId id="2147483792" r:id="rId10"/>
    <p:sldLayoutId id="2147483793" r:id="rId11"/>
    <p:sldLayoutId id="2147483794" r:id="rId12"/>
    <p:sldLayoutId id="2147483795" r:id="rId13"/>
    <p:sldLayoutId id="2147483796" r:id="rId14"/>
    <p:sldLayoutId id="2147483797" r:id="rId15"/>
    <p:sldLayoutId id="2147483798" r:id="rId16"/>
  </p:sldLayoutIdLst>
  <p:hf hdr="0" ft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5B12B15E-0D7D-4FDC-BC5C-B48428814D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5038" y="1279525"/>
            <a:ext cx="2921000" cy="7080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algn="ctr" eaLnBrk="1">
              <a:lnSpc>
                <a:spcPts val="2788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endParaRPr lang="en-US" alt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C3965B-8449-4A30-89C3-2AE4894B1567}"/>
              </a:ext>
            </a:extLst>
          </p:cNvPr>
          <p:cNvSpPr/>
          <p:nvPr/>
        </p:nvSpPr>
        <p:spPr>
          <a:xfrm>
            <a:off x="6629151" y="2485046"/>
            <a:ext cx="18473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EA0451-003F-4CB5-BEEC-7E2527E8B828}"/>
              </a:ext>
            </a:extLst>
          </p:cNvPr>
          <p:cNvSpPr/>
          <p:nvPr/>
        </p:nvSpPr>
        <p:spPr>
          <a:xfrm>
            <a:off x="2981124" y="1041096"/>
            <a:ext cx="6829827" cy="181588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</a:t>
            </a:r>
          </a:p>
          <a:p>
            <a:pPr algn="ctr"/>
            <a:r>
              <a:rPr lang="en-US" sz="2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Project presentation </a:t>
            </a:r>
          </a:p>
          <a:p>
            <a:pPr algn="ctr"/>
            <a:r>
              <a:rPr lang="en-US" sz="2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on </a:t>
            </a:r>
          </a:p>
          <a:p>
            <a:pPr algn="ctr"/>
            <a:r>
              <a:rPr lang="en-US" sz="28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Manufacturing Analytics Dashboard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F4511A-9539-4B43-9651-09FD4A8A471A}"/>
              </a:ext>
            </a:extLst>
          </p:cNvPr>
          <p:cNvSpPr/>
          <p:nvPr/>
        </p:nvSpPr>
        <p:spPr>
          <a:xfrm>
            <a:off x="6086528" y="2898798"/>
            <a:ext cx="619018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F901F4-FEDE-4B2F-8164-FEA4EC909043}"/>
              </a:ext>
            </a:extLst>
          </p:cNvPr>
          <p:cNvSpPr/>
          <p:nvPr/>
        </p:nvSpPr>
        <p:spPr>
          <a:xfrm>
            <a:off x="3110670" y="3402589"/>
            <a:ext cx="6570733" cy="449353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VARDHAN AMBATI</a:t>
            </a:r>
          </a:p>
          <a:p>
            <a:pPr algn="ctr"/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SHAIK ARSHAD</a:t>
            </a:r>
          </a:p>
          <a:p>
            <a:pPr algn="ctr"/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NEHA GUPTA</a:t>
            </a:r>
            <a:endParaRPr lang="en-US" sz="22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2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AGHAV SHITAL </a:t>
            </a:r>
          </a:p>
          <a:p>
            <a:pPr algn="ctr"/>
            <a:r>
              <a:rPr lang="en-US" sz="22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TANGALLAPALLY SAI</a:t>
            </a:r>
          </a:p>
          <a:p>
            <a:pPr algn="ctr"/>
            <a:r>
              <a:rPr lang="en-US" sz="22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FALGUNI KHARE</a:t>
            </a:r>
          </a:p>
          <a:p>
            <a:pPr algn="ctr"/>
            <a:r>
              <a:rPr lang="en-US" sz="22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VATTEM ASHISH</a:t>
            </a:r>
          </a:p>
          <a:p>
            <a:pPr algn="ctr"/>
            <a:endParaRPr lang="en-US" sz="22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2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2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     </a:t>
            </a:r>
          </a:p>
          <a:p>
            <a:pPr algn="ctr"/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A1750E-57CE-495A-AE63-C7EFCE27FBB0}"/>
              </a:ext>
            </a:extLst>
          </p:cNvPr>
          <p:cNvSpPr/>
          <p:nvPr/>
        </p:nvSpPr>
        <p:spPr>
          <a:xfrm>
            <a:off x="4152315" y="5238206"/>
            <a:ext cx="4740442" cy="267765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endParaRPr lang="en-US" sz="20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405582-0C14-4355-B1DE-839314489F16}"/>
              </a:ext>
            </a:extLst>
          </p:cNvPr>
          <p:cNvSpPr/>
          <p:nvPr/>
        </p:nvSpPr>
        <p:spPr>
          <a:xfrm>
            <a:off x="6744524" y="5070312"/>
            <a:ext cx="23596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2FBC90E9-E535-4787-A4EA-66780A90E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vert="horz" lIns="91440" tIns="45720" rIns="91440" bIns="45720" rtlCol="0" anchor="ctr"/>
          <a:lstStyle/>
          <a:p>
            <a:pPr algn="ctr"/>
            <a:fld id="{1F2D6159-CD00-415D-93A4-0C23FEC99B07}" type="datetime2">
              <a:rPr lang="en-US" sz="1100" smtClean="0">
                <a:latin typeface="Cambria" panose="02040503050406030204" pitchFamily="18" charset="0"/>
                <a:ea typeface="Cambria" panose="02040503050406030204" pitchFamily="18" charset="0"/>
              </a:rPr>
              <a:pPr algn="ctr"/>
              <a:t>Sunday, March 8, 2026</a:t>
            </a:fld>
            <a:endParaRPr lang="hi-IN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86EB018-9949-4A4D-8326-CABAC1315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8220" y="4983087"/>
            <a:ext cx="1113359" cy="365125"/>
          </a:xfrm>
        </p:spPr>
        <p:txBody>
          <a:bodyPr/>
          <a:lstStyle/>
          <a:p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endParaRPr lang="hi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Picture 2" descr="A logo for a company&#10;&#10;AI-generated content may be incorrect.">
            <a:extLst>
              <a:ext uri="{FF2B5EF4-FFF2-40B4-BE49-F238E27FC236}">
                <a16:creationId xmlns:a16="http://schemas.microsoft.com/office/drawing/2014/main" id="{0E77E7E9-2C01-8A57-AD4B-43020CEC6D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220" y="0"/>
            <a:ext cx="1961457" cy="1408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AA7379E-48CA-4861-B192-350204B9F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1861" y="357067"/>
            <a:ext cx="8742752" cy="566738"/>
          </a:xfrm>
        </p:spPr>
        <p:txBody>
          <a:bodyPr/>
          <a:lstStyle/>
          <a:p>
            <a:r>
              <a:rPr lang="en-US" b="1" dirty="0"/>
              <a:t>CONTENTS</a:t>
            </a:r>
            <a:endParaRPr lang="hi-IN" b="1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2E9EE7B-28CA-4372-AEE8-741DCE7200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61861" y="1217851"/>
            <a:ext cx="7877836" cy="498700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KPIs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Excel Dashboard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Tableau Dashboard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Power BI Dashboard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</a:rPr>
              <a:t>SQL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 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endParaRPr lang="en-IN" sz="20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endParaRPr lang="en-US" sz="1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endParaRPr lang="hi-IN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477D6505-4823-4479-BEC1-DC9CB54C2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vert="horz" lIns="91440" tIns="45720" rIns="91440" bIns="45720" rtlCol="0" anchor="ctr"/>
          <a:lstStyle/>
          <a:p>
            <a:pPr algn="ctr"/>
            <a:fld id="{A53CD174-6966-46DA-A89C-2F0AD20F546E}" type="datetime2">
              <a:rPr lang="en-US" sz="1100" smtClean="0">
                <a:latin typeface="Cambria" panose="02040503050406030204" pitchFamily="18" charset="0"/>
                <a:ea typeface="Cambria" panose="02040503050406030204" pitchFamily="18" charset="0"/>
              </a:rPr>
              <a:pPr algn="ctr"/>
              <a:t>Sunday, March 8, 2026</a:t>
            </a:fld>
            <a:endParaRPr lang="hi-IN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A5C31-294F-4B5B-95D8-946CBBA69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166" y="4983087"/>
            <a:ext cx="1208414" cy="365125"/>
          </a:xfrm>
        </p:spPr>
        <p:txBody>
          <a:bodyPr/>
          <a:lstStyle/>
          <a:p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endParaRPr lang="hi-IN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itle 6">
            <a:extLst>
              <a:ext uri="{FF2B5EF4-FFF2-40B4-BE49-F238E27FC236}">
                <a16:creationId xmlns:a16="http://schemas.microsoft.com/office/drawing/2014/main" id="{6A00049A-04A7-490B-BA7C-7EE22EAA4588}"/>
              </a:ext>
            </a:extLst>
          </p:cNvPr>
          <p:cNvSpPr txBox="1">
            <a:spLocks/>
          </p:cNvSpPr>
          <p:nvPr/>
        </p:nvSpPr>
        <p:spPr>
          <a:xfrm>
            <a:off x="2589213" y="317310"/>
            <a:ext cx="8915400" cy="5667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hi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413D85A3-D1BC-41FE-BAEB-5FE8F5F2687E}"/>
              </a:ext>
            </a:extLst>
          </p:cNvPr>
          <p:cNvSpPr txBox="1">
            <a:spLocks/>
          </p:cNvSpPr>
          <p:nvPr/>
        </p:nvSpPr>
        <p:spPr>
          <a:xfrm>
            <a:off x="2589213" y="1257609"/>
            <a:ext cx="8915400" cy="43083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hi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Picture 2" descr="A logo for a company&#10;&#10;AI-generated content may be incorrect.">
            <a:extLst>
              <a:ext uri="{FF2B5EF4-FFF2-40B4-BE49-F238E27FC236}">
                <a16:creationId xmlns:a16="http://schemas.microsoft.com/office/drawing/2014/main" id="{AF4C8CB2-C6EF-711C-097E-E8C311ADFE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603" y="0"/>
            <a:ext cx="1509693" cy="92380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730586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58305-5CB8-4134-90EB-83AA6F20B610}" type="datetime2">
              <a:rPr lang="en-US" smtClean="0"/>
              <a:pPr/>
              <a:t>Sunday, March 8, 2026</a:t>
            </a:fld>
            <a:endParaRPr lang="hi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82AA2-5CB3-46ED-A2B5-D56ACF0A669B}" type="slidenum">
              <a:rPr lang="hi-IN" smtClean="0"/>
              <a:pPr/>
              <a:t>3</a:t>
            </a:fld>
            <a:endParaRPr lang="hi-IN"/>
          </a:p>
        </p:txBody>
      </p:sp>
      <p:sp>
        <p:nvSpPr>
          <p:cNvPr id="5" name="TextBox 4"/>
          <p:cNvSpPr txBox="1"/>
          <p:nvPr/>
        </p:nvSpPr>
        <p:spPr>
          <a:xfrm>
            <a:off x="1959009" y="326117"/>
            <a:ext cx="4635500" cy="4616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spcBef>
                <a:spcPct val="0"/>
              </a:spcBef>
              <a:buNone/>
              <a:defRPr sz="2400" b="1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59009" y="1152907"/>
            <a:ext cx="9146142" cy="2674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The main aim of this project track daily and monthly production identify high downtime machines analyze defect rate improve overall production efficiency.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This project is based on manufacturing production data analysis.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The dataset contains information about machines, production quantity, defects, downtime, and cost.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The data is analyzed using Excel, SQL, and  Power BI , Tableau.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A dashboard is created to monitor performance and identify problem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logo for a company&#10;&#10;AI-generated content may be incorrect.">
            <a:extLst>
              <a:ext uri="{FF2B5EF4-FFF2-40B4-BE49-F238E27FC236}">
                <a16:creationId xmlns:a16="http://schemas.microsoft.com/office/drawing/2014/main" id="{13CE6EED-B27F-BF32-51FC-643B9A57DF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008" y="0"/>
            <a:ext cx="1417373" cy="69046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AA7379E-48CA-4861-B192-350204B9F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3" y="219938"/>
            <a:ext cx="8915400" cy="566738"/>
          </a:xfrm>
        </p:spPr>
        <p:txBody>
          <a:bodyPr>
            <a:normAutofit fontScale="90000"/>
          </a:bodyPr>
          <a:lstStyle/>
          <a:p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477D6505-4823-4479-BEC1-DC9CB54C2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vert="horz" lIns="91440" tIns="45720" rIns="91440" bIns="45720" rtlCol="0" anchor="ctr"/>
          <a:lstStyle/>
          <a:p>
            <a:pPr algn="ctr"/>
            <a:fld id="{EC6F6CE1-6CE4-4E3A-8ED3-3F34980FFC33}" type="datetime2">
              <a:rPr lang="en-US" sz="1100" smtClean="0">
                <a:latin typeface="Cambria" panose="02040503050406030204" pitchFamily="18" charset="0"/>
                <a:ea typeface="Cambria" panose="02040503050406030204" pitchFamily="18" charset="0"/>
              </a:rPr>
              <a:pPr algn="ctr"/>
              <a:t>Sunday, March 8, 2026</a:t>
            </a:fld>
            <a:endParaRPr lang="hi-IN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A5C31-294F-4B5B-95D8-946CBBA69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166" y="4983087"/>
            <a:ext cx="1208414" cy="365125"/>
          </a:xfrm>
        </p:spPr>
        <p:txBody>
          <a:bodyPr/>
          <a:lstStyle/>
          <a:p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4</a:t>
            </a:r>
            <a:endParaRPr lang="hi-IN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itle 6">
            <a:extLst>
              <a:ext uri="{FF2B5EF4-FFF2-40B4-BE49-F238E27FC236}">
                <a16:creationId xmlns:a16="http://schemas.microsoft.com/office/drawing/2014/main" id="{6A00049A-04A7-490B-BA7C-7EE22EAA4588}"/>
              </a:ext>
            </a:extLst>
          </p:cNvPr>
          <p:cNvSpPr txBox="1">
            <a:spLocks/>
          </p:cNvSpPr>
          <p:nvPr/>
        </p:nvSpPr>
        <p:spPr>
          <a:xfrm>
            <a:off x="2589213" y="317310"/>
            <a:ext cx="8915400" cy="5667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hi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413D85A3-D1BC-41FE-BAEB-5FE8F5F2687E}"/>
              </a:ext>
            </a:extLst>
          </p:cNvPr>
          <p:cNvSpPr txBox="1">
            <a:spLocks/>
          </p:cNvSpPr>
          <p:nvPr/>
        </p:nvSpPr>
        <p:spPr>
          <a:xfrm>
            <a:off x="2589213" y="1257609"/>
            <a:ext cx="8915400" cy="43083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hi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FEF8C594-0874-8163-7B7A-7A636E1B63DD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959009" y="963562"/>
            <a:ext cx="8220334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project, we selected KPIs like Total Production, Defect     Rate, Machine Utilization, Downtime, and Production Cost. These KPIs help to measure performance, quality, and efficiency in the manufacturing process.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Production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Measures total number of units produced.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Defect Rate (%)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Shows percentage of defective products.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Utilization (%)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Measures how effectively machines are used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Downtime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Total cost involved in production process.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logo for a company&#10;&#10;AI-generated content may be incorrect.">
            <a:extLst>
              <a:ext uri="{FF2B5EF4-FFF2-40B4-BE49-F238E27FC236}">
                <a16:creationId xmlns:a16="http://schemas.microsoft.com/office/drawing/2014/main" id="{73A6FADC-97CF-A3C5-CE9F-BA63D303A1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008" y="0"/>
            <a:ext cx="1417373" cy="69046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8E096E5-B8D4-6965-921B-699B2DF9F80C}"/>
              </a:ext>
            </a:extLst>
          </p:cNvPr>
          <p:cNvSpPr txBox="1"/>
          <p:nvPr/>
        </p:nvSpPr>
        <p:spPr>
          <a:xfrm>
            <a:off x="1959009" y="326117"/>
            <a:ext cx="4635500" cy="4616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spcBef>
                <a:spcPct val="0"/>
              </a:spcBef>
              <a:buNone/>
              <a:defRPr sz="2400" b="1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KPIs Used in This Project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586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58305-5CB8-4134-90EB-83AA6F20B610}" type="datetime2">
              <a:rPr lang="en-US" smtClean="0"/>
              <a:pPr/>
              <a:t>Sunday, March 8, 2026</a:t>
            </a:fld>
            <a:endParaRPr lang="hi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82AA2-5CB3-46ED-A2B5-D56ACF0A669B}" type="slidenum">
              <a:rPr lang="hi-IN" smtClean="0"/>
              <a:pPr/>
              <a:t>5</a:t>
            </a:fld>
            <a:endParaRPr lang="hi-IN"/>
          </a:p>
        </p:txBody>
      </p:sp>
      <p:sp>
        <p:nvSpPr>
          <p:cNvPr id="4" name="TextBox 3"/>
          <p:cNvSpPr txBox="1"/>
          <p:nvPr/>
        </p:nvSpPr>
        <p:spPr>
          <a:xfrm>
            <a:off x="1791996" y="113812"/>
            <a:ext cx="5816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Excel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59000" y="1739900"/>
            <a:ext cx="8788400" cy="417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F992724-29A0-C12B-A5BF-7CC19F230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70" y="689288"/>
            <a:ext cx="12041830" cy="616871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5" name="Picture 14" descr="A logo for a company&#10;&#10;AI-generated content may be incorrect.">
            <a:extLst>
              <a:ext uri="{FF2B5EF4-FFF2-40B4-BE49-F238E27FC236}">
                <a16:creationId xmlns:a16="http://schemas.microsoft.com/office/drawing/2014/main" id="{9EE56C4E-9944-0FF5-B271-AB26F3AD2C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008" y="0"/>
            <a:ext cx="1417373" cy="69046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58305-5CB8-4134-90EB-83AA6F20B610}" type="datetime2">
              <a:rPr lang="en-US" smtClean="0"/>
              <a:pPr/>
              <a:t>Sunday, March 8, 2026</a:t>
            </a:fld>
            <a:endParaRPr lang="hi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82AA2-5CB3-46ED-A2B5-D56ACF0A669B}" type="slidenum">
              <a:rPr lang="hi-IN" smtClean="0"/>
              <a:pPr/>
              <a:t>6</a:t>
            </a:fld>
            <a:endParaRPr lang="hi-IN"/>
          </a:p>
        </p:txBody>
      </p:sp>
      <p:sp>
        <p:nvSpPr>
          <p:cNvPr id="5" name="TextBox 4"/>
          <p:cNvSpPr txBox="1"/>
          <p:nvPr/>
        </p:nvSpPr>
        <p:spPr>
          <a:xfrm>
            <a:off x="2003878" y="3034733"/>
            <a:ext cx="9398000" cy="41742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3E0EED-4393-C459-9D49-AE92BB031D76}"/>
              </a:ext>
            </a:extLst>
          </p:cNvPr>
          <p:cNvSpPr txBox="1"/>
          <p:nvPr/>
        </p:nvSpPr>
        <p:spPr>
          <a:xfrm>
            <a:off x="1698171" y="970344"/>
            <a:ext cx="895751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Dashboard shows the Excel-based Manufacturing Dashboard created for this project.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provides a complete overview of production performance in a single screen.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includes important KPIs such as Total Production, Defect Rate, Machine Utilization, Downtime, and Production Cost.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charts like bar chart, line chart, and pie chart are used to visualize machine-wise production, monthly trends, and shift-wise performance.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filters are added to easily analyze data by month, machine, or shift.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dashboard helps management to quickly understand performance and take better decisions.</a:t>
            </a:r>
          </a:p>
          <a:p>
            <a:pPr algn="just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133C4F-C7B7-998A-174D-E3DAB35A44DB}"/>
              </a:ext>
            </a:extLst>
          </p:cNvPr>
          <p:cNvSpPr txBox="1"/>
          <p:nvPr/>
        </p:nvSpPr>
        <p:spPr>
          <a:xfrm>
            <a:off x="1791996" y="113812"/>
            <a:ext cx="5816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Excel Dashboard</a:t>
            </a:r>
          </a:p>
        </p:txBody>
      </p:sp>
      <p:pic>
        <p:nvPicPr>
          <p:cNvPr id="9" name="Picture 8" descr="A logo for a company&#10;&#10;AI-generated content may be incorrect.">
            <a:extLst>
              <a:ext uri="{FF2B5EF4-FFF2-40B4-BE49-F238E27FC236}">
                <a16:creationId xmlns:a16="http://schemas.microsoft.com/office/drawing/2014/main" id="{EC22B173-9881-BCC2-5F2E-3219680292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008" y="0"/>
            <a:ext cx="1417373" cy="69046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58305-5CB8-4134-90EB-83AA6F20B610}" type="datetime2">
              <a:rPr lang="en-US" smtClean="0"/>
              <a:pPr/>
              <a:t>Sunday, March 8, 2026</a:t>
            </a:fld>
            <a:endParaRPr lang="hi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82AA2-5CB3-46ED-A2B5-D56ACF0A669B}" type="slidenum">
              <a:rPr lang="hi-IN" smtClean="0"/>
              <a:pPr/>
              <a:t>7</a:t>
            </a:fld>
            <a:endParaRPr lang="hi-IN"/>
          </a:p>
        </p:txBody>
      </p:sp>
      <p:sp>
        <p:nvSpPr>
          <p:cNvPr id="4" name="TextBox 3"/>
          <p:cNvSpPr txBox="1"/>
          <p:nvPr/>
        </p:nvSpPr>
        <p:spPr>
          <a:xfrm>
            <a:off x="2666198" y="787782"/>
            <a:ext cx="8162223" cy="5930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792261" y="139566"/>
            <a:ext cx="44724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itchFamily="18" charset="0"/>
              </a:rPr>
              <a:t>Tableau Dashboard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2690ED-CA5F-748B-BBF2-6C1445C5F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76" y="699796"/>
            <a:ext cx="12108024" cy="615820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Picture 7" descr="A logo for a company&#10;&#10;AI-generated content may be incorrect.">
            <a:extLst>
              <a:ext uri="{FF2B5EF4-FFF2-40B4-BE49-F238E27FC236}">
                <a16:creationId xmlns:a16="http://schemas.microsoft.com/office/drawing/2014/main" id="{8AF5A441-1637-050E-0ADE-820315E86F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008" y="0"/>
            <a:ext cx="1417373" cy="69046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97371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477D6505-4823-4479-BEC1-DC9CB54C2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vert="horz" lIns="91440" tIns="45720" rIns="91440" bIns="45720" rtlCol="0" anchor="ctr"/>
          <a:lstStyle/>
          <a:p>
            <a:pPr algn="ctr"/>
            <a:fld id="{D404E6DC-0FD7-4504-AFEA-9CF490C57FB9}" type="datetime2">
              <a:rPr lang="en-US" sz="1100" smtClean="0">
                <a:latin typeface="Cambria" panose="02040503050406030204" pitchFamily="18" charset="0"/>
                <a:ea typeface="Cambria" panose="02040503050406030204" pitchFamily="18" charset="0"/>
              </a:rPr>
              <a:pPr algn="ctr"/>
              <a:t>Sunday, March 8, 2026</a:t>
            </a:fld>
            <a:endParaRPr lang="hi-IN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A5C31-294F-4B5B-95D8-946CBBA69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166" y="4983087"/>
            <a:ext cx="1208414" cy="365125"/>
          </a:xfrm>
        </p:spPr>
        <p:txBody>
          <a:bodyPr/>
          <a:lstStyle/>
          <a:p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8</a:t>
            </a:r>
            <a:endParaRPr lang="hi-IN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itle 6">
            <a:extLst>
              <a:ext uri="{FF2B5EF4-FFF2-40B4-BE49-F238E27FC236}">
                <a16:creationId xmlns:a16="http://schemas.microsoft.com/office/drawing/2014/main" id="{6A00049A-04A7-490B-BA7C-7EE22EAA4588}"/>
              </a:ext>
            </a:extLst>
          </p:cNvPr>
          <p:cNvSpPr txBox="1">
            <a:spLocks/>
          </p:cNvSpPr>
          <p:nvPr/>
        </p:nvSpPr>
        <p:spPr>
          <a:xfrm>
            <a:off x="2463969" y="386381"/>
            <a:ext cx="8915400" cy="5667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hi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413D85A3-D1BC-41FE-BAEB-5FE8F5F2687E}"/>
              </a:ext>
            </a:extLst>
          </p:cNvPr>
          <p:cNvSpPr txBox="1">
            <a:spLocks/>
          </p:cNvSpPr>
          <p:nvPr/>
        </p:nvSpPr>
        <p:spPr>
          <a:xfrm>
            <a:off x="2589213" y="1257609"/>
            <a:ext cx="8915400" cy="43083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hi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55984C-53DE-7F87-A23A-70EC0DB7B8F5}"/>
              </a:ext>
            </a:extLst>
          </p:cNvPr>
          <p:cNvSpPr txBox="1"/>
          <p:nvPr/>
        </p:nvSpPr>
        <p:spPr>
          <a:xfrm>
            <a:off x="1792261" y="877078"/>
            <a:ext cx="958710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This dashboard provides an overall view of manufacturing performance.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It displays key KPIs such as Total Production Quantity, Revenue, On-Time Delivery, and Late Orders.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The KPI section gives a quick summary of business performance. Interactive filters allow users to analyze data by buyer, department, and delivery period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.The revenue heatmap shows monthly performance trends. The department delay chart highlights areas causing delivery issues.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Buyer delivery performance compares efficiency across different buyers. Department performance chart ranks departments based on output.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The delivery trend line shows monthly fluctuations in performance.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Overall, the dashboard helps management make data-driven decisions to improve efficiency and profitability.</a:t>
            </a:r>
            <a:endParaRPr lang="en-IN" dirty="0"/>
          </a:p>
        </p:txBody>
      </p:sp>
      <p:pic>
        <p:nvPicPr>
          <p:cNvPr id="12" name="Picture 11" descr="A logo for a company&#10;&#10;AI-generated content may be incorrect.">
            <a:extLst>
              <a:ext uri="{FF2B5EF4-FFF2-40B4-BE49-F238E27FC236}">
                <a16:creationId xmlns:a16="http://schemas.microsoft.com/office/drawing/2014/main" id="{2E6C1F31-7A4F-C58E-616C-7E1BDB269E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008" y="0"/>
            <a:ext cx="1417373" cy="69046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45FCE1A-6B72-8065-ADC6-B702BC9AB281}"/>
              </a:ext>
            </a:extLst>
          </p:cNvPr>
          <p:cNvSpPr txBox="1"/>
          <p:nvPr/>
        </p:nvSpPr>
        <p:spPr>
          <a:xfrm>
            <a:off x="1792261" y="139566"/>
            <a:ext cx="44724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itchFamily="18" charset="0"/>
              </a:rPr>
              <a:t>Tableau Dashboard</a:t>
            </a:r>
          </a:p>
        </p:txBody>
      </p:sp>
    </p:spTree>
    <p:extLst>
      <p:ext uri="{BB962C8B-B14F-4D97-AF65-F5344CB8AC3E}">
        <p14:creationId xmlns:p14="http://schemas.microsoft.com/office/powerpoint/2010/main" val="730586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58305-5CB8-4134-90EB-83AA6F20B610}" type="datetime2">
              <a:rPr lang="en-US" smtClean="0"/>
              <a:pPr/>
              <a:t>Sunday, March 8, 2026</a:t>
            </a:fld>
            <a:endParaRPr lang="hi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82AA2-5CB3-46ED-A2B5-D56ACF0A669B}" type="slidenum">
              <a:rPr lang="hi-IN" smtClean="0"/>
              <a:pPr/>
              <a:t>9</a:t>
            </a:fld>
            <a:endParaRPr lang="hi-IN"/>
          </a:p>
        </p:txBody>
      </p:sp>
      <p:sp>
        <p:nvSpPr>
          <p:cNvPr id="4" name="TextBox 3"/>
          <p:cNvSpPr txBox="1"/>
          <p:nvPr/>
        </p:nvSpPr>
        <p:spPr>
          <a:xfrm>
            <a:off x="1630381" y="121127"/>
            <a:ext cx="8750300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Power BI Dashboard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A38011-C73E-FF2E-74E8-300C3AC20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44" y="709127"/>
            <a:ext cx="12117355" cy="611122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 descr="A logo for a company&#10;&#10;AI-generated content may be incorrect.">
            <a:extLst>
              <a:ext uri="{FF2B5EF4-FFF2-40B4-BE49-F238E27FC236}">
                <a16:creationId xmlns:a16="http://schemas.microsoft.com/office/drawing/2014/main" id="{8342051F-4A91-E294-ABFB-AD1476A5EB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008" y="0"/>
            <a:ext cx="1417373" cy="69046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2E9EE7B-28CA-4372-AEE8-741DCE7200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30381" y="871787"/>
            <a:ext cx="9241970" cy="4308303"/>
          </a:xfrm>
        </p:spPr>
        <p:txBody>
          <a:bodyPr>
            <a:normAutofit fontScale="92500"/>
          </a:bodyPr>
          <a:lstStyle/>
          <a:p>
            <a:pPr lvl="3"/>
            <a:endParaRPr lang="en-US" sz="1300" dirty="0">
              <a:latin typeface="Times New Roman" pitchFamily="18" charset="0"/>
              <a:cs typeface="Times New Roman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This dashboard provides a comprehensive overview of manufacturing operations using Power BI.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top KPI cards display key metrics such as Manufactured Quantity, Rejected Quantity, Processed Quantity, Work Order Quantity, and Wastage Quantity.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These KPIs give a quick summary of overall production performance. The Production Comparison Trend charts show the comparison between manufactured and rejected quantities over time.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Machine-wise Rejected Quantity chart highlights which machines contribute most to rejections. The Department-wise production comparison helps evaluate performance across different departments.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Employee-wise Rejected Quantity chart identifies employees associated with higher rejection rates. Interactive filters for Machine, Employee, and Department allow dynamic data analysis.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Trend analysis helps identify production patterns and operational inefficiencies. Overall, this dashboard supports data-driven decision-making to improve productivity and reduce wastage.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477D6505-4823-4479-BEC1-DC9CB54C2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vert="horz" lIns="91440" tIns="45720" rIns="91440" bIns="45720" rtlCol="0" anchor="ctr"/>
          <a:lstStyle/>
          <a:p>
            <a:pPr algn="ctr"/>
            <a:fld id="{A4592F7F-38AA-49C7-8E6A-94FBB5941016}" type="datetime2">
              <a:rPr lang="en-US" sz="1100" smtClean="0">
                <a:latin typeface="Cambria" panose="02040503050406030204" pitchFamily="18" charset="0"/>
                <a:ea typeface="Cambria" panose="02040503050406030204" pitchFamily="18" charset="0"/>
              </a:rPr>
              <a:pPr algn="ctr"/>
              <a:t>Sunday, March 8, 2026</a:t>
            </a:fld>
            <a:endParaRPr lang="hi-IN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A5C31-294F-4B5B-95D8-946CBBA69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166" y="4983087"/>
            <a:ext cx="1208414" cy="365125"/>
          </a:xfrm>
        </p:spPr>
        <p:txBody>
          <a:bodyPr/>
          <a:lstStyle/>
          <a:p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10</a:t>
            </a:r>
            <a:endParaRPr lang="hi-IN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itle 6">
            <a:extLst>
              <a:ext uri="{FF2B5EF4-FFF2-40B4-BE49-F238E27FC236}">
                <a16:creationId xmlns:a16="http://schemas.microsoft.com/office/drawing/2014/main" id="{6A00049A-04A7-490B-BA7C-7EE22EAA4588}"/>
              </a:ext>
            </a:extLst>
          </p:cNvPr>
          <p:cNvSpPr txBox="1">
            <a:spLocks/>
          </p:cNvSpPr>
          <p:nvPr/>
        </p:nvSpPr>
        <p:spPr>
          <a:xfrm>
            <a:off x="2589213" y="317310"/>
            <a:ext cx="8915400" cy="5667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hi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413D85A3-D1BC-41FE-BAEB-5FE8F5F2687E}"/>
              </a:ext>
            </a:extLst>
          </p:cNvPr>
          <p:cNvSpPr txBox="1">
            <a:spLocks/>
          </p:cNvSpPr>
          <p:nvPr/>
        </p:nvSpPr>
        <p:spPr>
          <a:xfrm>
            <a:off x="2187997" y="357067"/>
            <a:ext cx="8915400" cy="43083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hi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F8B4BC-74BB-A5AC-6EED-0C845E552B8C}"/>
              </a:ext>
            </a:extLst>
          </p:cNvPr>
          <p:cNvSpPr txBox="1"/>
          <p:nvPr/>
        </p:nvSpPr>
        <p:spPr>
          <a:xfrm>
            <a:off x="1630381" y="121127"/>
            <a:ext cx="8750300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Power BI Dashboard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 descr="A logo for a company&#10;&#10;AI-generated content may be incorrect.">
            <a:extLst>
              <a:ext uri="{FF2B5EF4-FFF2-40B4-BE49-F238E27FC236}">
                <a16:creationId xmlns:a16="http://schemas.microsoft.com/office/drawing/2014/main" id="{943BF0C6-CCAE-E909-9586-A13CE1265E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008" y="0"/>
            <a:ext cx="1417373" cy="69046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7305864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F3EF44-9914-B486-0AC9-9481C17F3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58305-5CB8-4134-90EB-83AA6F20B610}" type="datetime2">
              <a:rPr lang="en-US" smtClean="0"/>
              <a:pPr/>
              <a:t>Sunday, March 8, 2026</a:t>
            </a:fld>
            <a:endParaRPr lang="hi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474A20-4F94-9F93-1C1D-8F543301E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82AA2-5CB3-46ED-A2B5-D56ACF0A669B}" type="slidenum">
              <a:rPr lang="hi-IN" smtClean="0"/>
              <a:pPr/>
              <a:t>11</a:t>
            </a:fld>
            <a:endParaRPr lang="hi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D335E7-DDC8-33FA-7829-5B8087921CF8}"/>
              </a:ext>
            </a:extLst>
          </p:cNvPr>
          <p:cNvSpPr txBox="1"/>
          <p:nvPr/>
        </p:nvSpPr>
        <p:spPr>
          <a:xfrm>
            <a:off x="2113002" y="89399"/>
            <a:ext cx="2055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SQL</a:t>
            </a:r>
            <a:endParaRPr lang="en-IN" b="1" dirty="0">
              <a:solidFill>
                <a:srgbClr val="00B0F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F90F82-7954-0FA1-117A-85605C54FF9E}"/>
              </a:ext>
            </a:extLst>
          </p:cNvPr>
          <p:cNvSpPr txBox="1"/>
          <p:nvPr/>
        </p:nvSpPr>
        <p:spPr>
          <a:xfrm>
            <a:off x="3140765" y="618566"/>
            <a:ext cx="75669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A142C50-B8FB-DA56-6D7A-7BAE679920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398" y="1152907"/>
            <a:ext cx="5652851" cy="218583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0" name="Picture 19" descr="A screen shot of a computer code">
            <a:extLst>
              <a:ext uri="{FF2B5EF4-FFF2-40B4-BE49-F238E27FC236}">
                <a16:creationId xmlns:a16="http://schemas.microsoft.com/office/drawing/2014/main" id="{17B91E07-A726-C93A-ABF2-25328D54E4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399" y="3429000"/>
            <a:ext cx="5652851" cy="33396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18039FF-8E1B-A38F-0D27-EAA8A1771C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7713" y="156074"/>
            <a:ext cx="3361701" cy="395872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45D80B8-C862-199D-F900-C955FFAF7E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2965" y="156074"/>
            <a:ext cx="2566741" cy="395872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B4317123-06AC-CA05-97A4-BC6DFA6B61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7713" y="4219016"/>
            <a:ext cx="6051993" cy="254958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3" name="Picture 32" descr="A logo for a company&#10;&#10;AI-generated content may be incorrect.">
            <a:extLst>
              <a:ext uri="{FF2B5EF4-FFF2-40B4-BE49-F238E27FC236}">
                <a16:creationId xmlns:a16="http://schemas.microsoft.com/office/drawing/2014/main" id="{21AAA797-0990-01E5-52D1-5989F3BB5A1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008" y="0"/>
            <a:ext cx="1417373" cy="69046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14629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5FDB21-2A78-1589-4DF0-C457F7008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58305-5CB8-4134-90EB-83AA6F20B610}" type="datetime2">
              <a:rPr lang="en-US" smtClean="0"/>
              <a:pPr/>
              <a:t>Sunday, March 8, 2026</a:t>
            </a:fld>
            <a:endParaRPr lang="hi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475447-A984-4AE7-DE31-40726AF7D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82AA2-5CB3-46ED-A2B5-D56ACF0A669B}" type="slidenum">
              <a:rPr lang="hi-IN" smtClean="0"/>
              <a:pPr/>
              <a:t>12</a:t>
            </a:fld>
            <a:endParaRPr lang="hi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6F46AA-3407-1EC3-8290-6E0EBF9C1928}"/>
              </a:ext>
            </a:extLst>
          </p:cNvPr>
          <p:cNvSpPr txBox="1"/>
          <p:nvPr/>
        </p:nvSpPr>
        <p:spPr>
          <a:xfrm>
            <a:off x="2167812" y="326117"/>
            <a:ext cx="21402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 b="1">
                <a:solidFill>
                  <a:srgbClr val="0070C0"/>
                </a:solidFill>
                <a:latin typeface="Times New Roman" panose="02020603050405020304" pitchFamily="18" charset="0"/>
                <a:cs typeface="Times New Roman" pitchFamily="18" charset="0"/>
              </a:defRPr>
            </a:lvl1pPr>
          </a:lstStyle>
          <a:p>
            <a:r>
              <a:rPr lang="en-US"/>
              <a:t>Key Insights</a:t>
            </a:r>
            <a:r>
              <a:rPr lang="en-US" dirty="0"/>
              <a:t>   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FD88AA-D097-0F12-8124-A47231DD5E17}"/>
              </a:ext>
            </a:extLst>
          </p:cNvPr>
          <p:cNvSpPr txBox="1"/>
          <p:nvPr/>
        </p:nvSpPr>
        <p:spPr>
          <a:xfrm>
            <a:off x="2167812" y="1220392"/>
            <a:ext cx="599647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Rejected quantity is high and needs quality improvement.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performance varies across units.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Wastage impacts overall productivity and cost.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trends show operational fluctuations.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logo for a company&#10;&#10;AI-generated content may be incorrect.">
            <a:extLst>
              <a:ext uri="{FF2B5EF4-FFF2-40B4-BE49-F238E27FC236}">
                <a16:creationId xmlns:a16="http://schemas.microsoft.com/office/drawing/2014/main" id="{CDD1D739-AC0D-D88E-0C56-3B77333EFB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612" y="0"/>
            <a:ext cx="1506608" cy="709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4751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8F5B3B-F806-8CFE-963B-08D2CF308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58305-5CB8-4134-90EB-83AA6F20B610}" type="datetime2">
              <a:rPr lang="en-US" smtClean="0"/>
              <a:pPr/>
              <a:t>Sunday, March 8, 2026</a:t>
            </a:fld>
            <a:endParaRPr lang="hi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A4F52C-D93C-4CF5-A2D0-73806E6D1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82AA2-5CB3-46ED-A2B5-D56ACF0A669B}" type="slidenum">
              <a:rPr lang="hi-IN" smtClean="0"/>
              <a:pPr/>
              <a:t>13</a:t>
            </a:fld>
            <a:endParaRPr lang="hi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FBB856-5988-139B-21EC-3515CC3CC4AC}"/>
              </a:ext>
            </a:extLst>
          </p:cNvPr>
          <p:cNvSpPr txBox="1"/>
          <p:nvPr/>
        </p:nvSpPr>
        <p:spPr>
          <a:xfrm>
            <a:off x="2018521" y="321251"/>
            <a:ext cx="3396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 b="1">
                <a:solidFill>
                  <a:srgbClr val="0070C0"/>
                </a:solidFill>
                <a:latin typeface="Times New Roman" panose="02020603050405020304" pitchFamily="18" charset="0"/>
                <a:cs typeface="Times New Roman" pitchFamily="18" charset="0"/>
              </a:defRPr>
            </a:lvl1pPr>
          </a:lstStyle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040583-5053-7154-08CE-99FB42C4D77B}"/>
              </a:ext>
            </a:extLst>
          </p:cNvPr>
          <p:cNvSpPr txBox="1"/>
          <p:nvPr/>
        </p:nvSpPr>
        <p:spPr>
          <a:xfrm>
            <a:off x="2018520" y="1296870"/>
            <a:ext cx="779728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dashboard provides a clear overview of manufacturing performance.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identify rejection, wastage, and efficiency issues.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insights support data-driven decision making.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monitoring can improve productivity and reduce operational loss.</a:t>
            </a:r>
          </a:p>
        </p:txBody>
      </p:sp>
      <p:pic>
        <p:nvPicPr>
          <p:cNvPr id="14" name="Picture 13" descr="A logo for a company&#10;&#10;AI-generated content may be incorrect.">
            <a:extLst>
              <a:ext uri="{FF2B5EF4-FFF2-40B4-BE49-F238E27FC236}">
                <a16:creationId xmlns:a16="http://schemas.microsoft.com/office/drawing/2014/main" id="{FB9ED9A8-E783-7C7F-57CA-E68D67D3E3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56" y="0"/>
            <a:ext cx="1431963" cy="709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5838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2E9EE7B-28CA-4372-AEE8-741DCE7200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57753" y="2217853"/>
            <a:ext cx="5276493" cy="1193907"/>
          </a:xfrm>
        </p:spPr>
        <p:txBody>
          <a:bodyPr>
            <a:normAutofit/>
          </a:bodyPr>
          <a:lstStyle/>
          <a:p>
            <a:r>
              <a:rPr lang="en-US" sz="7200" b="1" i="1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Thank You</a:t>
            </a:r>
            <a:endParaRPr lang="hi-IN" sz="7200" b="1" i="1" u="sng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477D6505-4823-4479-BEC1-DC9CB54C2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vert="horz" lIns="91440" tIns="45720" rIns="91440" bIns="45720" rtlCol="0" anchor="ctr"/>
          <a:lstStyle/>
          <a:p>
            <a:pPr algn="ctr"/>
            <a:fld id="{11C7D92D-EE8F-4B9D-A1C7-8114776FAEA3}" type="datetime2">
              <a:rPr lang="en-US" sz="1100" smtClean="0">
                <a:latin typeface="Cambria" panose="02040503050406030204" pitchFamily="18" charset="0"/>
                <a:ea typeface="Cambria" panose="02040503050406030204" pitchFamily="18" charset="0"/>
              </a:rPr>
              <a:pPr algn="ctr"/>
              <a:t>Sunday, March 8, 2026</a:t>
            </a:fld>
            <a:endParaRPr lang="hi-IN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A5C31-294F-4B5B-95D8-946CBBA69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166" y="4983087"/>
            <a:ext cx="1208414" cy="365125"/>
          </a:xfrm>
        </p:spPr>
        <p:txBody>
          <a:bodyPr/>
          <a:lstStyle/>
          <a:p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18</a:t>
            </a:r>
            <a:endParaRPr lang="hi-IN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itle 6">
            <a:extLst>
              <a:ext uri="{FF2B5EF4-FFF2-40B4-BE49-F238E27FC236}">
                <a16:creationId xmlns:a16="http://schemas.microsoft.com/office/drawing/2014/main" id="{6A00049A-04A7-490B-BA7C-7EE22EAA4588}"/>
              </a:ext>
            </a:extLst>
          </p:cNvPr>
          <p:cNvSpPr txBox="1">
            <a:spLocks/>
          </p:cNvSpPr>
          <p:nvPr/>
        </p:nvSpPr>
        <p:spPr>
          <a:xfrm>
            <a:off x="2589213" y="317310"/>
            <a:ext cx="8915400" cy="5667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hi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413D85A3-D1BC-41FE-BAEB-5FE8F5F2687E}"/>
              </a:ext>
            </a:extLst>
          </p:cNvPr>
          <p:cNvSpPr txBox="1">
            <a:spLocks/>
          </p:cNvSpPr>
          <p:nvPr/>
        </p:nvSpPr>
        <p:spPr>
          <a:xfrm>
            <a:off x="2589213" y="1257609"/>
            <a:ext cx="8915400" cy="43083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hi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058643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Custom 23">
      <a:dk1>
        <a:sysClr val="windowText" lastClr="000000"/>
      </a:dk1>
      <a:lt1>
        <a:srgbClr val="FFFFFF"/>
      </a:lt1>
      <a:dk2>
        <a:srgbClr val="244149"/>
      </a:dk2>
      <a:lt2>
        <a:srgbClr val="FFFFFF"/>
      </a:lt2>
      <a:accent1>
        <a:srgbClr val="053D64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5207</TotalTime>
  <Words>678</Words>
  <Application>Microsoft Office PowerPoint</Application>
  <PresentationFormat>Widescreen</PresentationFormat>
  <Paragraphs>145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Cambria</vt:lpstr>
      <vt:lpstr>Century Gothic</vt:lpstr>
      <vt:lpstr>Times New Roman</vt:lpstr>
      <vt:lpstr>Wingdings</vt:lpstr>
      <vt:lpstr>Wingdings 3</vt:lpstr>
      <vt:lpstr>Wisp</vt:lpstr>
      <vt:lpstr>PowerPoint Presentation</vt:lpstr>
      <vt:lpstr>CONTENTS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vivekugale@gmail.com</dc:creator>
  <cp:lastModifiedBy>Shital</cp:lastModifiedBy>
  <cp:revision>165</cp:revision>
  <dcterms:created xsi:type="dcterms:W3CDTF">2018-08-30T04:24:25Z</dcterms:created>
  <dcterms:modified xsi:type="dcterms:W3CDTF">2026-03-08T03:52:44Z</dcterms:modified>
</cp:coreProperties>
</file>